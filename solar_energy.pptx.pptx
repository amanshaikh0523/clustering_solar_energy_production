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70" r:id="rId11"/>
    <p:sldId id="265" r:id="rId12"/>
    <p:sldId id="266" r:id="rId13"/>
    <p:sldId id="269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68FBB7B-694A-47BF-865D-2F44C1051453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0"/>
      <dgm:spPr/>
      <dgm:t>
        <a:bodyPr/>
        <a:p>
          <a:endParaRPr lang="en-US"/>
        </a:p>
      </dgm:t>
    </dgm:pt>
    <dgm:pt modelId="{BD5427FF-4EB1-4006-BF7F-42158E0C5129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/>
            <a:t>MiniBatchKMeans</a:t>
          </a:r>
          <a:r>
            <a:rPr lang="en-US" altLang="en-US"/>
            <a:t/>
          </a:r>
          <a:endParaRPr lang="en-US" altLang="en-US"/>
        </a:p>
      </dgm:t>
    </dgm:pt>
    <dgm:pt modelId="{A2F6D805-3B53-408A-A2A3-20BC3BF0D242}" cxnId="{16E5C2B5-C7EE-400E-AEA1-80BF97D1B389}" type="parTrans">
      <dgm:prSet/>
      <dgm:spPr/>
      <dgm:t>
        <a:bodyPr/>
        <a:p>
          <a:endParaRPr lang="en-US"/>
        </a:p>
      </dgm:t>
    </dgm:pt>
    <dgm:pt modelId="{D47F9812-1256-4E44-A6BE-BEC559BE8FF3}" cxnId="{16E5C2B5-C7EE-400E-AEA1-80BF97D1B389}" type="sibTrans">
      <dgm:prSet/>
      <dgm:spPr/>
      <dgm:t>
        <a:bodyPr/>
        <a:p>
          <a:endParaRPr lang="en-US"/>
        </a:p>
      </dgm:t>
    </dgm:pt>
    <dgm:pt modelId="{3A7B819B-DBE9-4610-B22A-5573EA6D532D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US"/>
            <a:t>Efficient and scalable clustering algorithm.</a:t>
          </a:r>
          <a:endParaRPr lang="en-US" altLang="en-US"/>
        </a:p>
      </dgm:t>
    </dgm:pt>
    <dgm:pt modelId="{DC4BEA23-BF6E-42AD-9BF0-CFBDE86A80F1}" cxnId="{0343095C-AF61-4D6E-9EFF-33D6C28B7E77}" type="parTrans">
      <dgm:prSet/>
      <dgm:spPr/>
      <dgm:t>
        <a:bodyPr/>
        <a:p>
          <a:endParaRPr lang="en-US"/>
        </a:p>
      </dgm:t>
    </dgm:pt>
    <dgm:pt modelId="{0BF6ACD3-AE1A-4691-8CBE-DBE77AB8A685}" cxnId="{0343095C-AF61-4D6E-9EFF-33D6C28B7E77}" type="sibTrans">
      <dgm:prSet/>
      <dgm:spPr/>
      <dgm:t>
        <a:bodyPr/>
        <a:p>
          <a:endParaRPr lang="en-US"/>
        </a:p>
      </dgm:t>
    </dgm:pt>
    <dgm:pt modelId="{73BA1400-11A6-45CA-9A56-36CE8082D79F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US"/>
            <a:t>Suitable for large datasets.</a:t>
          </a:r>
          <a:endParaRPr lang="en-US" altLang="en-US"/>
        </a:p>
      </dgm:t>
    </dgm:pt>
    <dgm:pt modelId="{B07C71A7-FB81-4885-92CC-276958E2C9BD}" cxnId="{38057586-333E-4436-AE08-8B8D008B6B5C}" type="parTrans">
      <dgm:prSet/>
      <dgm:spPr/>
    </dgm:pt>
    <dgm:pt modelId="{A9AF727D-4666-4B90-87D5-F5F6B613E665}" cxnId="{38057586-333E-4436-AE08-8B8D008B6B5C}" type="sibTrans">
      <dgm:prSet/>
      <dgm:spPr/>
    </dgm:pt>
    <dgm:pt modelId="{2489F4EC-38DA-407D-8D80-3121FEFD5DDE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US"/>
            <a:t>Used as the primary model for clustering.</a:t>
          </a:r>
          <a:r>
            <a:rPr lang="en-US"/>
            <a:t/>
          </a:r>
          <a:endParaRPr lang="en-US"/>
        </a:p>
      </dgm:t>
    </dgm:pt>
    <dgm:pt modelId="{1F1360DC-E6B9-4A4E-83A9-5C5CC8EB977B}" cxnId="{8FFCDA25-B342-492B-BA3F-AAE4E69686E7}" type="parTrans">
      <dgm:prSet/>
      <dgm:spPr/>
    </dgm:pt>
    <dgm:pt modelId="{9C4071EB-DA1A-4117-959A-9F72271C28D6}" cxnId="{8FFCDA25-B342-492B-BA3F-AAE4E69686E7}" type="sibTrans">
      <dgm:prSet/>
      <dgm:spPr/>
    </dgm:pt>
    <dgm:pt modelId="{FE969E54-0D5D-4815-BDC4-3309E2F7325D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/>
            <a:t>Hierarchical Clustering</a:t>
          </a:r>
          <a:endParaRPr lang="en-US" altLang="en-US"/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/>
            <a:t/>
          </a:r>
          <a:endParaRPr lang="en-US" altLang="en-US"/>
        </a:p>
      </dgm:t>
    </dgm:pt>
    <dgm:pt modelId="{B5D9FB86-EEBE-488F-B7DE-B7CF5C9166C5}" cxnId="{0775C711-3B0B-41B3-8B99-8E26C94E0EF9}" type="parTrans">
      <dgm:prSet/>
      <dgm:spPr/>
      <dgm:t>
        <a:bodyPr/>
        <a:p>
          <a:endParaRPr lang="en-US"/>
        </a:p>
      </dgm:t>
    </dgm:pt>
    <dgm:pt modelId="{D7D19B67-C01A-45D3-B5C7-B7E1B18A9F62}" cxnId="{0775C711-3B0B-41B3-8B99-8E26C94E0EF9}" type="sibTrans">
      <dgm:prSet/>
      <dgm:spPr/>
      <dgm:t>
        <a:bodyPr/>
        <a:p>
          <a:endParaRPr lang="en-US"/>
        </a:p>
      </dgm:t>
    </dgm:pt>
    <dgm:pt modelId="{35600F67-42C2-4D1B-B072-DC2A36FCB136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US"/>
            <a:t>Groups data based on hierarchical relationships.</a:t>
          </a:r>
          <a:endParaRPr lang="en-US" altLang="en-US"/>
        </a:p>
      </dgm:t>
    </dgm:pt>
    <dgm:pt modelId="{B4BC79E1-FDBA-43D1-A988-1BE8090EDA7A}" cxnId="{70DF189D-B03E-494C-ADA1-0DD30F668D61}" type="parTrans">
      <dgm:prSet/>
      <dgm:spPr/>
      <dgm:t>
        <a:bodyPr/>
        <a:p>
          <a:endParaRPr lang="en-US"/>
        </a:p>
      </dgm:t>
    </dgm:pt>
    <dgm:pt modelId="{AD46A0AA-C45A-46D2-89AF-28390F99F9D0}" cxnId="{70DF189D-B03E-494C-ADA1-0DD30F668D61}" type="sibTrans">
      <dgm:prSet/>
      <dgm:spPr/>
      <dgm:t>
        <a:bodyPr/>
        <a:p>
          <a:endParaRPr lang="en-US"/>
        </a:p>
      </dgm:t>
    </dgm:pt>
    <dgm:pt modelId="{002C87D3-9A22-407A-8658-64D490FA5E89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US"/>
            <a:t>Helps in understanding cluster structure.</a:t>
          </a:r>
          <a:endParaRPr lang="en-US" altLang="en-US"/>
        </a:p>
      </dgm:t>
    </dgm:pt>
    <dgm:pt modelId="{8B66FCA3-6AAB-4346-A636-5C7929265FC8}" cxnId="{7FFFBCE1-3E7C-464F-A7FD-465061B00557}" type="parTrans">
      <dgm:prSet/>
      <dgm:spPr/>
    </dgm:pt>
    <dgm:pt modelId="{99EEF1FF-7647-4985-9D31-1C2B38F24F67}" cxnId="{7FFFBCE1-3E7C-464F-A7FD-465061B00557}" type="sibTrans">
      <dgm:prSet/>
      <dgm:spPr/>
    </dgm:pt>
    <dgm:pt modelId="{6A2541D0-F2D2-4327-8E21-734D44863A36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US"/>
            <a:t>Applied on sample data due to computational complexity.</a:t>
          </a:r>
          <a:r>
            <a:rPr lang="en-US"/>
            <a:t/>
          </a:r>
          <a:endParaRPr lang="en-US"/>
        </a:p>
      </dgm:t>
    </dgm:pt>
    <dgm:pt modelId="{42F08946-DBDD-4299-BAE4-D67FF6AE2623}" cxnId="{0FBF15AB-1A4F-477C-B0F2-4E601C8CBEA7}" type="parTrans">
      <dgm:prSet/>
      <dgm:spPr/>
    </dgm:pt>
    <dgm:pt modelId="{055C9DC0-F07B-4ECC-95BE-B5B2B8E65BC3}" cxnId="{0FBF15AB-1A4F-477C-B0F2-4E601C8CBEA7}" type="sibTrans">
      <dgm:prSet/>
      <dgm:spPr/>
    </dgm:pt>
    <dgm:pt modelId="{61F0DC84-7FFF-4FDD-9B5D-40960093AE83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/>
            <a:t>Gaussian Mixture Model (GMM)</a:t>
          </a:r>
          <a:endParaRPr lang="en-US" altLang="en-US"/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/>
            <a:t/>
          </a:r>
          <a:endParaRPr lang="en-US" altLang="en-US"/>
        </a:p>
      </dgm:t>
    </dgm:pt>
    <dgm:pt modelId="{2CB3CEFC-83E6-4DB9-B636-5287ACC11553}" cxnId="{A0CB9D62-2564-4B0F-881A-51B34213883F}" type="parTrans">
      <dgm:prSet/>
      <dgm:spPr/>
      <dgm:t>
        <a:bodyPr/>
        <a:p>
          <a:endParaRPr lang="en-US"/>
        </a:p>
      </dgm:t>
    </dgm:pt>
    <dgm:pt modelId="{1FAE29ED-22A2-40FA-904A-0706E8542FE7}" cxnId="{A0CB9D62-2564-4B0F-881A-51B34213883F}" type="sibTrans">
      <dgm:prSet/>
      <dgm:spPr/>
      <dgm:t>
        <a:bodyPr/>
        <a:p>
          <a:endParaRPr lang="en-US"/>
        </a:p>
      </dgm:t>
    </dgm:pt>
    <dgm:pt modelId="{2C0D9F89-7CE9-4195-96AC-FB27D6AA2EF6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US"/>
            <a:t>Probabilistic clustering approach.</a:t>
          </a:r>
          <a:endParaRPr lang="en-US" altLang="en-US"/>
        </a:p>
      </dgm:t>
    </dgm:pt>
    <dgm:pt modelId="{24D9371C-2787-474E-A690-5A09190A9707}" cxnId="{9067909D-9188-4405-A132-F9FA9A4E79AB}" type="parTrans">
      <dgm:prSet/>
      <dgm:spPr/>
      <dgm:t>
        <a:bodyPr/>
        <a:p>
          <a:endParaRPr lang="en-US"/>
        </a:p>
      </dgm:t>
    </dgm:pt>
    <dgm:pt modelId="{39E6AF7E-E529-4319-B552-AB363EF4CE26}" cxnId="{9067909D-9188-4405-A132-F9FA9A4E79AB}" type="sibTrans">
      <dgm:prSet/>
      <dgm:spPr/>
      <dgm:t>
        <a:bodyPr/>
        <a:p>
          <a:endParaRPr lang="en-US"/>
        </a:p>
      </dgm:t>
    </dgm:pt>
    <dgm:pt modelId="{F80B0013-DF5C-48D0-86DE-ADE84038E19D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US"/>
            <a:t>Allows overlapping clusters.</a:t>
          </a:r>
          <a:endParaRPr lang="en-US" altLang="en-US"/>
        </a:p>
      </dgm:t>
    </dgm:pt>
    <dgm:pt modelId="{5B2803DD-25F1-41AB-B1FB-FBD618577CD2}" cxnId="{0F1B8A90-D4A0-42A8-AD5C-282BBC705CDE}" type="parTrans">
      <dgm:prSet/>
      <dgm:spPr/>
    </dgm:pt>
    <dgm:pt modelId="{DEEEEBBC-56FD-4A49-AFB0-CD94B4048C22}" cxnId="{0F1B8A90-D4A0-42A8-AD5C-282BBC705CDE}" type="sibTrans">
      <dgm:prSet/>
      <dgm:spPr/>
    </dgm:pt>
    <dgm:pt modelId="{EE573507-8EA4-4123-BD14-56517E062A43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US"/>
            <a:t>Provides flexible cluster boundaries</a:t>
          </a:r>
          <a:r>
            <a:rPr lang="en-IN" altLang="en-US"/>
            <a:t>.</a:t>
          </a:r>
          <a:r>
            <a:rPr lang="en-IN" altLang="en-US"/>
            <a:t/>
          </a:r>
          <a:endParaRPr lang="en-IN" altLang="en-US"/>
        </a:p>
      </dgm:t>
    </dgm:pt>
    <dgm:pt modelId="{A33E6C18-04A4-4ACA-8DBE-CBD7E50A21E8}" cxnId="{DBE23EA3-F9AD-4F08-A8F0-7E1A32DCC151}" type="parTrans">
      <dgm:prSet/>
      <dgm:spPr/>
    </dgm:pt>
    <dgm:pt modelId="{F09FABF8-D216-462B-A072-26984772173F}" cxnId="{DBE23EA3-F9AD-4F08-A8F0-7E1A32DCC151}" type="sibTrans">
      <dgm:prSet/>
      <dgm:spPr/>
    </dgm:pt>
    <dgm:pt modelId="{D5FB6A06-3991-4223-AD64-C4F7F6F4DF69}" type="pres">
      <dgm:prSet presAssocID="{468FBB7B-694A-47BF-865D-2F44C1051453}" presName="Name0" presStyleCnt="0">
        <dgm:presLayoutVars>
          <dgm:dir/>
          <dgm:animLvl val="lvl"/>
          <dgm:resizeHandles val="exact"/>
        </dgm:presLayoutVars>
      </dgm:prSet>
      <dgm:spPr/>
    </dgm:pt>
    <dgm:pt modelId="{5EB24CCF-928A-4018-A934-89F31F564A83}" type="pres">
      <dgm:prSet presAssocID="{BD5427FF-4EB1-4006-BF7F-42158E0C5129}" presName="composite" presStyleCnt="0"/>
      <dgm:spPr/>
    </dgm:pt>
    <dgm:pt modelId="{5D9704F8-5A95-419F-B794-1E2F82666BDB}" type="pres">
      <dgm:prSet presAssocID="{BD5427FF-4EB1-4006-BF7F-42158E0C5129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C0A6D3D8-DBC2-45B6-8DEF-789A72552BB4}" type="pres">
      <dgm:prSet presAssocID="{BD5427FF-4EB1-4006-BF7F-42158E0C5129}" presName="desTx" presStyleLbl="alignAccFollowNode1" presStyleIdx="0" presStyleCnt="3">
        <dgm:presLayoutVars>
          <dgm:bulletEnabled val="1"/>
        </dgm:presLayoutVars>
      </dgm:prSet>
      <dgm:spPr/>
    </dgm:pt>
    <dgm:pt modelId="{C4F6D2AE-A2A5-43DC-B705-8E8ECE0E1613}" type="pres">
      <dgm:prSet presAssocID="{D47F9812-1256-4E44-A6BE-BEC559BE8FF3}" presName="space" presStyleCnt="0"/>
      <dgm:spPr/>
    </dgm:pt>
    <dgm:pt modelId="{C1832C44-4F6B-4ABA-88DC-7D5A80779E4B}" type="pres">
      <dgm:prSet presAssocID="{FE969E54-0D5D-4815-BDC4-3309E2F7325D}" presName="composite" presStyleCnt="0"/>
      <dgm:spPr/>
    </dgm:pt>
    <dgm:pt modelId="{3E0BA246-3456-471B-AD87-1436FD251DD8}" type="pres">
      <dgm:prSet presAssocID="{FE969E54-0D5D-4815-BDC4-3309E2F7325D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33CF15AD-8A19-4E9A-9BED-239A79CAF737}" type="pres">
      <dgm:prSet presAssocID="{FE969E54-0D5D-4815-BDC4-3309E2F7325D}" presName="desTx" presStyleLbl="alignAccFollowNode1" presStyleIdx="1" presStyleCnt="3">
        <dgm:presLayoutVars>
          <dgm:bulletEnabled val="1"/>
        </dgm:presLayoutVars>
      </dgm:prSet>
      <dgm:spPr/>
    </dgm:pt>
    <dgm:pt modelId="{F4639A07-76C8-4329-80D5-712628979A9A}" type="pres">
      <dgm:prSet presAssocID="{D7D19B67-C01A-45D3-B5C7-B7E1B18A9F62}" presName="space" presStyleCnt="0"/>
      <dgm:spPr/>
    </dgm:pt>
    <dgm:pt modelId="{7F710124-E259-48A5-9895-471DE20AF50E}" type="pres">
      <dgm:prSet presAssocID="{61F0DC84-7FFF-4FDD-9B5D-40960093AE83}" presName="composite" presStyleCnt="0"/>
      <dgm:spPr/>
    </dgm:pt>
    <dgm:pt modelId="{FC453BFD-315B-4968-86FA-B7D3125F3320}" type="pres">
      <dgm:prSet presAssocID="{61F0DC84-7FFF-4FDD-9B5D-40960093AE83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B357C82A-FE93-416B-AFBF-A74F9E99C4E4}" type="pres">
      <dgm:prSet presAssocID="{61F0DC84-7FFF-4FDD-9B5D-40960093AE83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16E5C2B5-C7EE-400E-AEA1-80BF97D1B389}" srcId="{468FBB7B-694A-47BF-865D-2F44C1051453}" destId="{BD5427FF-4EB1-4006-BF7F-42158E0C5129}" srcOrd="0" destOrd="0" parTransId="{A2F6D805-3B53-408A-A2A3-20BC3BF0D242}" sibTransId="{D47F9812-1256-4E44-A6BE-BEC559BE8FF3}"/>
    <dgm:cxn modelId="{0343095C-AF61-4D6E-9EFF-33D6C28B7E77}" srcId="{BD5427FF-4EB1-4006-BF7F-42158E0C5129}" destId="{3A7B819B-DBE9-4610-B22A-5573EA6D532D}" srcOrd="0" destOrd="0" parTransId="{DC4BEA23-BF6E-42AD-9BF0-CFBDE86A80F1}" sibTransId="{0BF6ACD3-AE1A-4691-8CBE-DBE77AB8A685}"/>
    <dgm:cxn modelId="{38057586-333E-4436-AE08-8B8D008B6B5C}" srcId="{BD5427FF-4EB1-4006-BF7F-42158E0C5129}" destId="{73BA1400-11A6-45CA-9A56-36CE8082D79F}" srcOrd="1" destOrd="0" parTransId="{B07C71A7-FB81-4885-92CC-276958E2C9BD}" sibTransId="{A9AF727D-4666-4B90-87D5-F5F6B613E665}"/>
    <dgm:cxn modelId="{8FFCDA25-B342-492B-BA3F-AAE4E69686E7}" srcId="{BD5427FF-4EB1-4006-BF7F-42158E0C5129}" destId="{2489F4EC-38DA-407D-8D80-3121FEFD5DDE}" srcOrd="2" destOrd="0" parTransId="{1F1360DC-E6B9-4A4E-83A9-5C5CC8EB977B}" sibTransId="{9C4071EB-DA1A-4117-959A-9F72271C28D6}"/>
    <dgm:cxn modelId="{0775C711-3B0B-41B3-8B99-8E26C94E0EF9}" srcId="{468FBB7B-694A-47BF-865D-2F44C1051453}" destId="{FE969E54-0D5D-4815-BDC4-3309E2F7325D}" srcOrd="1" destOrd="0" parTransId="{B5D9FB86-EEBE-488F-B7DE-B7CF5C9166C5}" sibTransId="{D7D19B67-C01A-45D3-B5C7-B7E1B18A9F62}"/>
    <dgm:cxn modelId="{70DF189D-B03E-494C-ADA1-0DD30F668D61}" srcId="{FE969E54-0D5D-4815-BDC4-3309E2F7325D}" destId="{35600F67-42C2-4D1B-B072-DC2A36FCB136}" srcOrd="0" destOrd="1" parTransId="{B4BC79E1-FDBA-43D1-A988-1BE8090EDA7A}" sibTransId="{AD46A0AA-C45A-46D2-89AF-28390F99F9D0}"/>
    <dgm:cxn modelId="{7FFFBCE1-3E7C-464F-A7FD-465061B00557}" srcId="{FE969E54-0D5D-4815-BDC4-3309E2F7325D}" destId="{002C87D3-9A22-407A-8658-64D490FA5E89}" srcOrd="1" destOrd="1" parTransId="{8B66FCA3-6AAB-4346-A636-5C7929265FC8}" sibTransId="{99EEF1FF-7647-4985-9D31-1C2B38F24F67}"/>
    <dgm:cxn modelId="{0FBF15AB-1A4F-477C-B0F2-4E601C8CBEA7}" srcId="{FE969E54-0D5D-4815-BDC4-3309E2F7325D}" destId="{6A2541D0-F2D2-4327-8E21-734D44863A36}" srcOrd="2" destOrd="1" parTransId="{42F08946-DBDD-4299-BAE4-D67FF6AE2623}" sibTransId="{055C9DC0-F07B-4ECC-95BE-B5B2B8E65BC3}"/>
    <dgm:cxn modelId="{A0CB9D62-2564-4B0F-881A-51B34213883F}" srcId="{468FBB7B-694A-47BF-865D-2F44C1051453}" destId="{61F0DC84-7FFF-4FDD-9B5D-40960093AE83}" srcOrd="2" destOrd="0" parTransId="{2CB3CEFC-83E6-4DB9-B636-5287ACC11553}" sibTransId="{1FAE29ED-22A2-40FA-904A-0706E8542FE7}"/>
    <dgm:cxn modelId="{9067909D-9188-4405-A132-F9FA9A4E79AB}" srcId="{61F0DC84-7FFF-4FDD-9B5D-40960093AE83}" destId="{2C0D9F89-7CE9-4195-96AC-FB27D6AA2EF6}" srcOrd="0" destOrd="2" parTransId="{24D9371C-2787-474E-A690-5A09190A9707}" sibTransId="{39E6AF7E-E529-4319-B552-AB363EF4CE26}"/>
    <dgm:cxn modelId="{0F1B8A90-D4A0-42A8-AD5C-282BBC705CDE}" srcId="{61F0DC84-7FFF-4FDD-9B5D-40960093AE83}" destId="{F80B0013-DF5C-48D0-86DE-ADE84038E19D}" srcOrd="1" destOrd="2" parTransId="{5B2803DD-25F1-41AB-B1FB-FBD618577CD2}" sibTransId="{DEEEEBBC-56FD-4A49-AFB0-CD94B4048C22}"/>
    <dgm:cxn modelId="{DBE23EA3-F9AD-4F08-A8F0-7E1A32DCC151}" srcId="{61F0DC84-7FFF-4FDD-9B5D-40960093AE83}" destId="{EE573507-8EA4-4123-BD14-56517E062A43}" srcOrd="2" destOrd="2" parTransId="{A33E6C18-04A4-4ACA-8DBE-CBD7E50A21E8}" sibTransId="{F09FABF8-D216-462B-A072-26984772173F}"/>
    <dgm:cxn modelId="{D1389B77-791D-4062-902C-6F26DA89E322}" type="presOf" srcId="{468FBB7B-694A-47BF-865D-2F44C1051453}" destId="{D5FB6A06-3991-4223-AD64-C4F7F6F4DF69}" srcOrd="0" destOrd="0" presId="urn:microsoft.com/office/officeart/2005/8/layout/hList1"/>
    <dgm:cxn modelId="{B720BC8D-169A-4196-9B7A-79E29F148D8B}" type="presParOf" srcId="{D5FB6A06-3991-4223-AD64-C4F7F6F4DF69}" destId="{5EB24CCF-928A-4018-A934-89F31F564A83}" srcOrd="0" destOrd="0" presId="urn:microsoft.com/office/officeart/2005/8/layout/hList1"/>
    <dgm:cxn modelId="{64EFEA5C-0CA3-4EA4-BAD5-A4602AB9E2DD}" type="presParOf" srcId="{5EB24CCF-928A-4018-A934-89F31F564A83}" destId="{5D9704F8-5A95-419F-B794-1E2F82666BDB}" srcOrd="0" destOrd="0" presId="urn:microsoft.com/office/officeart/2005/8/layout/hList1"/>
    <dgm:cxn modelId="{6F63E4F6-24C8-4D69-ACA1-0A57CEC40209}" type="presOf" srcId="{BD5427FF-4EB1-4006-BF7F-42158E0C5129}" destId="{5D9704F8-5A95-419F-B794-1E2F82666BDB}" srcOrd="0" destOrd="0" presId="urn:microsoft.com/office/officeart/2005/8/layout/hList1"/>
    <dgm:cxn modelId="{B7283B08-023A-4BD6-A502-42F6DB476453}" type="presParOf" srcId="{5EB24CCF-928A-4018-A934-89F31F564A83}" destId="{C0A6D3D8-DBC2-45B6-8DEF-789A72552BB4}" srcOrd="1" destOrd="0" presId="urn:microsoft.com/office/officeart/2005/8/layout/hList1"/>
    <dgm:cxn modelId="{5DE395FE-14B1-4937-9427-5CF9237B683C}" type="presOf" srcId="{3A7B819B-DBE9-4610-B22A-5573EA6D532D}" destId="{C0A6D3D8-DBC2-45B6-8DEF-789A72552BB4}" srcOrd="0" destOrd="0" presId="urn:microsoft.com/office/officeart/2005/8/layout/hList1"/>
    <dgm:cxn modelId="{68B05BC4-0845-4C20-B3C1-5F1DF1BBE6A2}" type="presOf" srcId="{73BA1400-11A6-45CA-9A56-36CE8082D79F}" destId="{C0A6D3D8-DBC2-45B6-8DEF-789A72552BB4}" srcOrd="0" destOrd="1" presId="urn:microsoft.com/office/officeart/2005/8/layout/hList1"/>
    <dgm:cxn modelId="{AB0BF176-FF65-45D7-AC81-664665DCFA65}" type="presOf" srcId="{2489F4EC-38DA-407D-8D80-3121FEFD5DDE}" destId="{C0A6D3D8-DBC2-45B6-8DEF-789A72552BB4}" srcOrd="0" destOrd="2" presId="urn:microsoft.com/office/officeart/2005/8/layout/hList1"/>
    <dgm:cxn modelId="{47CD9E17-EAAB-40A1-8942-19A25DC47A5D}" type="presParOf" srcId="{D5FB6A06-3991-4223-AD64-C4F7F6F4DF69}" destId="{C4F6D2AE-A2A5-43DC-B705-8E8ECE0E1613}" srcOrd="1" destOrd="0" presId="urn:microsoft.com/office/officeart/2005/8/layout/hList1"/>
    <dgm:cxn modelId="{A3DF30DB-BBCF-4AF5-BB71-D6CB4809670F}" type="presParOf" srcId="{D5FB6A06-3991-4223-AD64-C4F7F6F4DF69}" destId="{C1832C44-4F6B-4ABA-88DC-7D5A80779E4B}" srcOrd="2" destOrd="0" presId="urn:microsoft.com/office/officeart/2005/8/layout/hList1"/>
    <dgm:cxn modelId="{A8A6253A-32F1-457B-BC2F-11DA5221CB47}" type="presParOf" srcId="{C1832C44-4F6B-4ABA-88DC-7D5A80779E4B}" destId="{3E0BA246-3456-471B-AD87-1436FD251DD8}" srcOrd="0" destOrd="2" presId="urn:microsoft.com/office/officeart/2005/8/layout/hList1"/>
    <dgm:cxn modelId="{5D5BB317-7135-4E90-B154-816CFDA4A0C5}" type="presOf" srcId="{FE969E54-0D5D-4815-BDC4-3309E2F7325D}" destId="{3E0BA246-3456-471B-AD87-1436FD251DD8}" srcOrd="0" destOrd="0" presId="urn:microsoft.com/office/officeart/2005/8/layout/hList1"/>
    <dgm:cxn modelId="{3625AEED-2266-4958-9E12-C78A9A3E960B}" type="presParOf" srcId="{C1832C44-4F6B-4ABA-88DC-7D5A80779E4B}" destId="{33CF15AD-8A19-4E9A-9BED-239A79CAF737}" srcOrd="1" destOrd="2" presId="urn:microsoft.com/office/officeart/2005/8/layout/hList1"/>
    <dgm:cxn modelId="{7A8CF780-FAC5-4258-9E8D-8F26BEEB2970}" type="presOf" srcId="{35600F67-42C2-4D1B-B072-DC2A36FCB136}" destId="{33CF15AD-8A19-4E9A-9BED-239A79CAF737}" srcOrd="0" destOrd="0" presId="urn:microsoft.com/office/officeart/2005/8/layout/hList1"/>
    <dgm:cxn modelId="{86CFC936-848C-4757-A14F-6ED78FC14671}" type="presOf" srcId="{002C87D3-9A22-407A-8658-64D490FA5E89}" destId="{33CF15AD-8A19-4E9A-9BED-239A79CAF737}" srcOrd="0" destOrd="1" presId="urn:microsoft.com/office/officeart/2005/8/layout/hList1"/>
    <dgm:cxn modelId="{9EEDF22B-DA0F-4CBB-8774-BD543426A3B8}" type="presOf" srcId="{6A2541D0-F2D2-4327-8E21-734D44863A36}" destId="{33CF15AD-8A19-4E9A-9BED-239A79CAF737}" srcOrd="0" destOrd="2" presId="urn:microsoft.com/office/officeart/2005/8/layout/hList1"/>
    <dgm:cxn modelId="{F267E041-7210-4E60-9893-97F9CB81E05F}" type="presParOf" srcId="{D5FB6A06-3991-4223-AD64-C4F7F6F4DF69}" destId="{F4639A07-76C8-4329-80D5-712628979A9A}" srcOrd="3" destOrd="0" presId="urn:microsoft.com/office/officeart/2005/8/layout/hList1"/>
    <dgm:cxn modelId="{3AF2C6D3-514F-4B03-97D0-2376968E3BD1}" type="presParOf" srcId="{D5FB6A06-3991-4223-AD64-C4F7F6F4DF69}" destId="{7F710124-E259-48A5-9895-471DE20AF50E}" srcOrd="4" destOrd="0" presId="urn:microsoft.com/office/officeart/2005/8/layout/hList1"/>
    <dgm:cxn modelId="{275D49A0-ADD0-41F6-8DE1-9BE2D02CA74C}" type="presParOf" srcId="{7F710124-E259-48A5-9895-471DE20AF50E}" destId="{FC453BFD-315B-4968-86FA-B7D3125F3320}" srcOrd="0" destOrd="4" presId="urn:microsoft.com/office/officeart/2005/8/layout/hList1"/>
    <dgm:cxn modelId="{25342E4E-2B4D-4101-8B0C-16D7F5552C7C}" type="presOf" srcId="{61F0DC84-7FFF-4FDD-9B5D-40960093AE83}" destId="{FC453BFD-315B-4968-86FA-B7D3125F3320}" srcOrd="0" destOrd="0" presId="urn:microsoft.com/office/officeart/2005/8/layout/hList1"/>
    <dgm:cxn modelId="{D319E752-A9B3-49AA-915A-3A4DB897EE41}" type="presParOf" srcId="{7F710124-E259-48A5-9895-471DE20AF50E}" destId="{B357C82A-FE93-416B-AFBF-A74F9E99C4E4}" srcOrd="1" destOrd="4" presId="urn:microsoft.com/office/officeart/2005/8/layout/hList1"/>
    <dgm:cxn modelId="{37D540DB-F106-40C6-8B4D-B8F6CE596899}" type="presOf" srcId="{2C0D9F89-7CE9-4195-96AC-FB27D6AA2EF6}" destId="{B357C82A-FE93-416B-AFBF-A74F9E99C4E4}" srcOrd="0" destOrd="0" presId="urn:microsoft.com/office/officeart/2005/8/layout/hList1"/>
    <dgm:cxn modelId="{FE2D872F-0E64-4265-80E3-7DE048A9C603}" type="presOf" srcId="{F80B0013-DF5C-48D0-86DE-ADE84038E19D}" destId="{B357C82A-FE93-416B-AFBF-A74F9E99C4E4}" srcOrd="0" destOrd="1" presId="urn:microsoft.com/office/officeart/2005/8/layout/hList1"/>
    <dgm:cxn modelId="{F0B6896F-3B59-4CA5-8959-D923A9595B5F}" type="presOf" srcId="{EE573507-8EA4-4123-BD14-56517E062A43}" destId="{B357C82A-FE93-416B-AFBF-A74F9E99C4E4}" srcOrd="0" destOrd="2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9949815" cy="4293870"/>
        <a:chOff x="0" y="0"/>
        <a:chExt cx="9949815" cy="4293870"/>
      </a:xfrm>
    </dsp:grpSpPr>
    <dsp:sp modelId="{5D9704F8-5A95-419F-B794-1E2F82666BDB}">
      <dsp:nvSpPr>
        <dsp:cNvPr id="3" name="Rectangle 2"/>
        <dsp:cNvSpPr/>
      </dsp:nvSpPr>
      <dsp:spPr bwMode="white">
        <a:xfrm>
          <a:off x="0" y="201612"/>
          <a:ext cx="3033480" cy="1083945"/>
        </a:xfrm>
        <a:prstGeom prst="rect">
          <a:avLst/>
        </a:prstGeom>
      </dsp:spPr>
      <dsp:style>
        <a:lnRef idx="2">
          <a:schemeClr val="accent1">
            <a:alpha val="90000"/>
            <a:hueOff val="0"/>
            <a:satOff val="0"/>
            <a:lumOff val="0"/>
            <a:alpha val="90196"/>
          </a:schemeClr>
        </a:lnRef>
        <a:fillRef idx="1">
          <a:schemeClr val="accent1">
            <a:alpha val="90000"/>
            <a:hueOff val="0"/>
            <a:satOff val="0"/>
            <a:lumOff val="0"/>
            <a:alpha val="9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28016" tIns="73152" rIns="128016" bIns="73152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/>
            <a:t>MiniBatchKMeans</a:t>
          </a:r>
          <a:endParaRPr lang="en-US" altLang="en-US"/>
        </a:p>
      </dsp:txBody>
      <dsp:txXfrm>
        <a:off x="0" y="201612"/>
        <a:ext cx="3033480" cy="1083945"/>
      </dsp:txXfrm>
    </dsp:sp>
    <dsp:sp modelId="{C0A6D3D8-DBC2-45B6-8DEF-789A72552BB4}">
      <dsp:nvSpPr>
        <dsp:cNvPr id="4" name="Rectangle 3"/>
        <dsp:cNvSpPr/>
      </dsp:nvSpPr>
      <dsp:spPr bwMode="white">
        <a:xfrm>
          <a:off x="0" y="1285557"/>
          <a:ext cx="3033480" cy="2806700"/>
        </a:xfrm>
        <a:prstGeom prst="rect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vert="horz" wrap="square" lIns="96012" tIns="96012" rIns="128016" bIns="144018" anchor="t"/>
        <a:lstStyle>
          <a:lvl1pPr algn="l">
            <a:defRPr sz="1800"/>
          </a:lvl1pPr>
          <a:lvl2pPr marL="171450" indent="-171450" algn="l">
            <a:defRPr sz="1800"/>
          </a:lvl2pPr>
          <a:lvl3pPr marL="342900" indent="-171450" algn="l">
            <a:defRPr sz="1800"/>
          </a:lvl3pPr>
          <a:lvl4pPr marL="514350" indent="-171450" algn="l">
            <a:defRPr sz="1800"/>
          </a:lvl4pPr>
          <a:lvl5pPr marL="685800" indent="-171450" algn="l">
            <a:defRPr sz="1800"/>
          </a:lvl5pPr>
          <a:lvl6pPr marL="857250" indent="-171450" algn="l">
            <a:defRPr sz="1800"/>
          </a:lvl6pPr>
          <a:lvl7pPr marL="1028700" indent="-171450" algn="l">
            <a:defRPr sz="1800"/>
          </a:lvl7pPr>
          <a:lvl8pPr marL="1200150" indent="-171450" algn="l">
            <a:defRPr sz="1800"/>
          </a:lvl8pPr>
          <a:lvl9pPr marL="1371600" indent="-171450" algn="l">
            <a:defRPr sz="18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>
              <a:solidFill>
                <a:schemeClr val="dk1"/>
              </a:solidFill>
            </a:rPr>
            <a:t>Efficient and scalable clustering algorithm.</a:t>
          </a:r>
          <a:endParaRPr lang="en-US" alt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>
              <a:solidFill>
                <a:schemeClr val="dk1"/>
              </a:solidFill>
            </a:rPr>
            <a:t>Suitable for large datasets.</a:t>
          </a:r>
          <a:endParaRPr lang="en-US" alt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>
              <a:solidFill>
                <a:schemeClr val="dk1"/>
              </a:solidFill>
            </a:rPr>
            <a:t>Used as the primary model for clustering.</a:t>
          </a:r>
          <a:endParaRPr lang="en-US">
            <a:solidFill>
              <a:schemeClr val="dk1"/>
            </a:solidFill>
          </a:endParaRPr>
        </a:p>
      </dsp:txBody>
      <dsp:txXfrm>
        <a:off x="0" y="1285557"/>
        <a:ext cx="3033480" cy="2806700"/>
      </dsp:txXfrm>
    </dsp:sp>
    <dsp:sp modelId="{3E0BA246-3456-471B-AD87-1436FD251DD8}">
      <dsp:nvSpPr>
        <dsp:cNvPr id="5" name="Rectangle 4"/>
        <dsp:cNvSpPr/>
      </dsp:nvSpPr>
      <dsp:spPr bwMode="white">
        <a:xfrm>
          <a:off x="3458167" y="201612"/>
          <a:ext cx="3033480" cy="1083945"/>
        </a:xfrm>
        <a:prstGeom prst="rect">
          <a:avLst/>
        </a:prstGeom>
      </dsp:spPr>
      <dsp:style>
        <a:lnRef idx="2">
          <a:schemeClr val="accent1">
            <a:alpha val="90000"/>
            <a:hueOff val="0"/>
            <a:satOff val="0"/>
            <a:lumOff val="0"/>
            <a:alpha val="70196"/>
          </a:schemeClr>
        </a:lnRef>
        <a:fillRef idx="1">
          <a:schemeClr val="accent1">
            <a:alpha val="90000"/>
            <a:hueOff val="0"/>
            <a:satOff val="0"/>
            <a:lumOff val="0"/>
            <a:alpha val="7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28016" tIns="73152" rIns="128016" bIns="73152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/>
            <a:t>Hierarchical Clustering</a:t>
          </a:r>
          <a:endParaRPr lang="en-US" altLang="en-US"/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US" altLang="en-US"/>
        </a:p>
      </dsp:txBody>
      <dsp:txXfrm>
        <a:off x="3458167" y="201612"/>
        <a:ext cx="3033480" cy="1083945"/>
      </dsp:txXfrm>
    </dsp:sp>
    <dsp:sp modelId="{33CF15AD-8A19-4E9A-9BED-239A79CAF737}">
      <dsp:nvSpPr>
        <dsp:cNvPr id="6" name="Rectangle 5"/>
        <dsp:cNvSpPr/>
      </dsp:nvSpPr>
      <dsp:spPr bwMode="white">
        <a:xfrm>
          <a:off x="3458167" y="1285557"/>
          <a:ext cx="3033480" cy="2806700"/>
        </a:xfrm>
        <a:prstGeom prst="rect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vert="horz" wrap="square" lIns="96012" tIns="96012" rIns="128016" bIns="144018" anchor="t"/>
        <a:lstStyle>
          <a:lvl1pPr algn="l">
            <a:defRPr sz="1800"/>
          </a:lvl1pPr>
          <a:lvl2pPr marL="171450" indent="-171450" algn="l">
            <a:defRPr sz="1800"/>
          </a:lvl2pPr>
          <a:lvl3pPr marL="342900" indent="-171450" algn="l">
            <a:defRPr sz="1800"/>
          </a:lvl3pPr>
          <a:lvl4pPr marL="514350" indent="-171450" algn="l">
            <a:defRPr sz="1800"/>
          </a:lvl4pPr>
          <a:lvl5pPr marL="685800" indent="-171450" algn="l">
            <a:defRPr sz="1800"/>
          </a:lvl5pPr>
          <a:lvl6pPr marL="857250" indent="-171450" algn="l">
            <a:defRPr sz="1800"/>
          </a:lvl6pPr>
          <a:lvl7pPr marL="1028700" indent="-171450" algn="l">
            <a:defRPr sz="1800"/>
          </a:lvl7pPr>
          <a:lvl8pPr marL="1200150" indent="-171450" algn="l">
            <a:defRPr sz="1800"/>
          </a:lvl8pPr>
          <a:lvl9pPr marL="1371600" indent="-171450" algn="l">
            <a:defRPr sz="18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>
              <a:solidFill>
                <a:schemeClr val="dk1"/>
              </a:solidFill>
            </a:rPr>
            <a:t>Groups data based on hierarchical relationships.</a:t>
          </a:r>
          <a:endParaRPr lang="en-US" alt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>
              <a:solidFill>
                <a:schemeClr val="dk1"/>
              </a:solidFill>
            </a:rPr>
            <a:t>Helps in understanding cluster structure.</a:t>
          </a:r>
          <a:endParaRPr lang="en-US" alt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>
              <a:solidFill>
                <a:schemeClr val="dk1"/>
              </a:solidFill>
            </a:rPr>
            <a:t>Applied on sample data due to computational complexity.</a:t>
          </a:r>
          <a:endParaRPr lang="en-US">
            <a:solidFill>
              <a:schemeClr val="dk1"/>
            </a:solidFill>
          </a:endParaRPr>
        </a:p>
      </dsp:txBody>
      <dsp:txXfrm>
        <a:off x="3458167" y="1285557"/>
        <a:ext cx="3033480" cy="2806700"/>
      </dsp:txXfrm>
    </dsp:sp>
    <dsp:sp modelId="{FC453BFD-315B-4968-86FA-B7D3125F3320}">
      <dsp:nvSpPr>
        <dsp:cNvPr id="7" name="Rectangle 6"/>
        <dsp:cNvSpPr/>
      </dsp:nvSpPr>
      <dsp:spPr bwMode="white">
        <a:xfrm>
          <a:off x="6916335" y="201612"/>
          <a:ext cx="3033480" cy="1083945"/>
        </a:xfrm>
        <a:prstGeom prst="rect">
          <a:avLst/>
        </a:prstGeom>
      </dsp:spPr>
      <dsp:style>
        <a:lnRef idx="2">
          <a:schemeClr val="accent1">
            <a:alpha val="90000"/>
            <a:hueOff val="0"/>
            <a:satOff val="0"/>
            <a:lumOff val="0"/>
            <a:alpha val="50196"/>
          </a:schemeClr>
        </a:lnRef>
        <a:fillRef idx="1">
          <a:schemeClr val="accent1">
            <a:alpha val="90000"/>
            <a:hueOff val="0"/>
            <a:satOff val="0"/>
            <a:lumOff val="0"/>
            <a:alpha val="5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28016" tIns="73152" rIns="128016" bIns="73152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/>
            <a:t>Gaussian Mixture Model (GMM)</a:t>
          </a:r>
          <a:endParaRPr lang="en-US" altLang="en-US"/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US" altLang="en-US"/>
        </a:p>
      </dsp:txBody>
      <dsp:txXfrm>
        <a:off x="6916335" y="201612"/>
        <a:ext cx="3033480" cy="1083945"/>
      </dsp:txXfrm>
    </dsp:sp>
    <dsp:sp modelId="{B357C82A-FE93-416B-AFBF-A74F9E99C4E4}">
      <dsp:nvSpPr>
        <dsp:cNvPr id="8" name="Rectangle 7"/>
        <dsp:cNvSpPr/>
      </dsp:nvSpPr>
      <dsp:spPr bwMode="white">
        <a:xfrm>
          <a:off x="6916335" y="1285557"/>
          <a:ext cx="3033480" cy="2806700"/>
        </a:xfrm>
        <a:prstGeom prst="rect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vert="horz" wrap="square" lIns="96012" tIns="96012" rIns="128016" bIns="144018" anchor="t"/>
        <a:lstStyle>
          <a:lvl1pPr algn="l">
            <a:defRPr sz="1800"/>
          </a:lvl1pPr>
          <a:lvl2pPr marL="171450" indent="-171450" algn="l">
            <a:defRPr sz="1800"/>
          </a:lvl2pPr>
          <a:lvl3pPr marL="342900" indent="-171450" algn="l">
            <a:defRPr sz="1800"/>
          </a:lvl3pPr>
          <a:lvl4pPr marL="514350" indent="-171450" algn="l">
            <a:defRPr sz="1800"/>
          </a:lvl4pPr>
          <a:lvl5pPr marL="685800" indent="-171450" algn="l">
            <a:defRPr sz="1800"/>
          </a:lvl5pPr>
          <a:lvl6pPr marL="857250" indent="-171450" algn="l">
            <a:defRPr sz="1800"/>
          </a:lvl6pPr>
          <a:lvl7pPr marL="1028700" indent="-171450" algn="l">
            <a:defRPr sz="1800"/>
          </a:lvl7pPr>
          <a:lvl8pPr marL="1200150" indent="-171450" algn="l">
            <a:defRPr sz="1800"/>
          </a:lvl8pPr>
          <a:lvl9pPr marL="1371600" indent="-171450" algn="l">
            <a:defRPr sz="18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>
              <a:solidFill>
                <a:schemeClr val="dk1"/>
              </a:solidFill>
            </a:rPr>
            <a:t>Probabilistic clustering approach.</a:t>
          </a:r>
          <a:endParaRPr lang="en-US" alt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>
              <a:solidFill>
                <a:schemeClr val="dk1"/>
              </a:solidFill>
            </a:rPr>
            <a:t>Allows overlapping clusters.</a:t>
          </a:r>
          <a:endParaRPr lang="en-US" alt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>
              <a:solidFill>
                <a:schemeClr val="dk1"/>
              </a:solidFill>
            </a:rPr>
            <a:t>Provides flexible cluster boundaries</a:t>
          </a:r>
          <a:r>
            <a:rPr lang="en-IN" altLang="en-US">
              <a:solidFill>
                <a:schemeClr val="dk1"/>
              </a:solidFill>
            </a:rPr>
            <a:t>.</a:t>
          </a:r>
          <a:endParaRPr lang="en-IN" altLang="en-US">
            <a:solidFill>
              <a:schemeClr val="dk1"/>
            </a:solidFill>
          </a:endParaRPr>
        </a:p>
      </dsp:txBody>
      <dsp:txXfrm>
        <a:off x="6916335" y="1285557"/>
        <a:ext cx="3033480" cy="28067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63396-79FB-4F1D-9035-251A43F0B33F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A8F054BC-C579-4FA4-8E0B-F5962F8B35A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63396-79FB-4F1D-9035-251A43F0B33F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054BC-C579-4FA4-8E0B-F5962F8B35A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63396-79FB-4F1D-9035-251A43F0B33F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8F054BC-C579-4FA4-8E0B-F5962F8B35A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63396-79FB-4F1D-9035-251A43F0B33F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8F054BC-C579-4FA4-8E0B-F5962F8B35A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63396-79FB-4F1D-9035-251A43F0B33F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8F054BC-C579-4FA4-8E0B-F5962F8B35A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63396-79FB-4F1D-9035-251A43F0B33F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054BC-C579-4FA4-8E0B-F5962F8B35A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63396-79FB-4F1D-9035-251A43F0B33F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054BC-C579-4FA4-8E0B-F5962F8B35A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63396-79FB-4F1D-9035-251A43F0B33F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054BC-C579-4FA4-8E0B-F5962F8B35A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63396-79FB-4F1D-9035-251A43F0B33F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8F054BC-C579-4FA4-8E0B-F5962F8B35A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63396-79FB-4F1D-9035-251A43F0B33F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8F054BC-C579-4FA4-8E0B-F5962F8B35A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63396-79FB-4F1D-9035-251A43F0B33F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8F054BC-C579-4FA4-8E0B-F5962F8B35AC}" type="slidenum">
              <a:rPr lang="en-IN" smtClean="0"/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63396-79FB-4F1D-9035-251A43F0B33F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8F054BC-C579-4FA4-8E0B-F5962F8B35A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63396-79FB-4F1D-9035-251A43F0B33F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8F054BC-C579-4FA4-8E0B-F5962F8B35AC}" type="slidenum">
              <a:rPr lang="en-IN" smtClean="0"/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63396-79FB-4F1D-9035-251A43F0B33F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8F054BC-C579-4FA4-8E0B-F5962F8B35A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63396-79FB-4F1D-9035-251A43F0B33F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054BC-C579-4FA4-8E0B-F5962F8B35A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63396-79FB-4F1D-9035-251A43F0B33F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054BC-C579-4FA4-8E0B-F5962F8B35A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863396-79FB-4F1D-9035-251A43F0B33F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A8F054BC-C579-4FA4-8E0B-F5962F8B35AC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335006"/>
            <a:ext cx="11161059" cy="3196198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Spinnaker Analytics</a:t>
            </a:r>
            <a:b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600" i="1" dirty="0"/>
            </a:br>
            <a:r>
              <a:rPr lang="en-US" sz="3600" i="1" dirty="0"/>
              <a:t>  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Topic</a:t>
            </a:r>
            <a:r>
              <a:rPr lang="en-US" sz="3600" i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IN" altLang="en-US" sz="36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6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Clustering Solar Energy Production Zones</a:t>
            </a:r>
            <a:r>
              <a:rPr lang="en-IN" sz="36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endParaRPr lang="en-IN" sz="36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                                                                                                   </a:t>
            </a:r>
            <a:r>
              <a:rPr lang="en-IN" b="1" dirty="0">
                <a:solidFill>
                  <a:schemeClr val="tx1"/>
                </a:solidFill>
              </a:rPr>
              <a:t>Aman Shaikh</a:t>
            </a:r>
            <a:endParaRPr lang="en-IN" b="1" dirty="0">
              <a:solidFill>
                <a:schemeClr val="tx1"/>
              </a:solidFill>
            </a:endParaRPr>
          </a:p>
          <a:p>
            <a:r>
              <a:rPr lang="en-IN" b="1" dirty="0">
                <a:solidFill>
                  <a:schemeClr val="tx1"/>
                </a:solidFill>
              </a:rPr>
              <a:t>                                                                                                   mar 2026</a:t>
            </a:r>
            <a:endParaRPr lang="en-IN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Agenda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3571" y="1979628"/>
            <a:ext cx="11095349" cy="3902697"/>
          </a:xfrm>
        </p:spPr>
        <p:txBody>
          <a:bodyPr>
            <a:normAutofit fontScale="75000" lnSpcReduction="20000"/>
          </a:bodyPr>
          <a:lstStyle/>
          <a:p>
            <a:r>
              <a:rPr lang="en-US" sz="2400" dirty="0"/>
              <a:t>Introduction </a:t>
            </a:r>
            <a:endParaRPr lang="en-US" sz="2400" dirty="0"/>
          </a:p>
          <a:p>
            <a:r>
              <a:rPr lang="en-US" sz="2400" dirty="0"/>
              <a:t>Project Objective</a:t>
            </a:r>
            <a:endParaRPr lang="en-US" sz="2400" dirty="0"/>
          </a:p>
          <a:p>
            <a:r>
              <a:rPr lang="en-US" sz="2400" dirty="0"/>
              <a:t>Overview of Dataset</a:t>
            </a:r>
            <a:endParaRPr lang="en-US" sz="2400" dirty="0"/>
          </a:p>
          <a:p>
            <a:r>
              <a:rPr lang="en-US" sz="2400" dirty="0"/>
              <a:t>Exploratory Data Analysis(EDA)</a:t>
            </a:r>
            <a:endParaRPr lang="en-US" sz="2400" dirty="0"/>
          </a:p>
          <a:p>
            <a:r>
              <a:rPr lang="en-US" sz="2400" dirty="0"/>
              <a:t>Data Preprocessing</a:t>
            </a:r>
            <a:endParaRPr lang="en-US" sz="2400" dirty="0"/>
          </a:p>
          <a:p>
            <a:r>
              <a:rPr lang="en-US" sz="2400" dirty="0"/>
              <a:t>Machine Learning Workflow</a:t>
            </a:r>
            <a:endParaRPr lang="en-US" sz="2400" dirty="0"/>
          </a:p>
          <a:p>
            <a:r>
              <a:rPr lang="en-US" sz="2400" dirty="0"/>
              <a:t>Algorithms Used</a:t>
            </a:r>
            <a:endParaRPr lang="en-US" sz="2400" dirty="0"/>
          </a:p>
          <a:p>
            <a:r>
              <a:rPr lang="en-US" sz="2400" dirty="0"/>
              <a:t>Model </a:t>
            </a:r>
            <a:r>
              <a:rPr lang="en-IN" altLang="en-US" sz="2400" dirty="0"/>
              <a:t>Comparison</a:t>
            </a:r>
            <a:endParaRPr lang="en-US" sz="2400" dirty="0"/>
          </a:p>
          <a:p>
            <a:r>
              <a:rPr lang="en-US" sz="2400" dirty="0"/>
              <a:t>Model Selection(Final)</a:t>
            </a:r>
            <a:endParaRPr lang="en-US" sz="2400" dirty="0"/>
          </a:p>
          <a:p>
            <a:r>
              <a:rPr lang="en-IN" altLang="en-US" sz="2400" dirty="0"/>
              <a:t>Cluster Results</a:t>
            </a:r>
            <a:endParaRPr lang="en-US" sz="2400" dirty="0"/>
          </a:p>
          <a:p>
            <a:r>
              <a:rPr lang="en-US" sz="2600" dirty="0"/>
              <a:t>Conclusion</a:t>
            </a:r>
            <a:endParaRPr lang="en-US" sz="26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IN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11604" y="1677971"/>
            <a:ext cx="9393008" cy="4233251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charset="0"/>
              <a:buChar char="v"/>
            </a:pPr>
            <a:r>
              <a:rPr lang="en-US" altLang="en-US" sz="2000" dirty="0"/>
              <a:t>Solar energy is a rapidly growing source of renewable energy worldwide.</a:t>
            </a:r>
            <a:endParaRPr lang="en-US" altLang="en-US" sz="2000" dirty="0"/>
          </a:p>
          <a:p>
            <a:pPr algn="just">
              <a:buFont typeface="Wingdings" panose="05000000000000000000" charset="0"/>
              <a:buChar char="v"/>
            </a:pPr>
            <a:r>
              <a:rPr lang="en-US" altLang="en-US" sz="2000" dirty="0"/>
              <a:t>Large datasets of solar projects contain valuable information about system size, energy production, and performance.</a:t>
            </a:r>
            <a:endParaRPr lang="en-US" altLang="en-US" sz="2000" dirty="0"/>
          </a:p>
          <a:p>
            <a:pPr algn="just">
              <a:buFont typeface="Wingdings" panose="05000000000000000000" charset="0"/>
              <a:buChar char="v"/>
            </a:pPr>
            <a:r>
              <a:rPr lang="en-US" altLang="en-US" sz="2000" dirty="0"/>
              <a:t>Analyzing this data can help identify patterns and improve decision-making.</a:t>
            </a:r>
            <a:endParaRPr lang="en-US" altLang="en-US" sz="2000" dirty="0"/>
          </a:p>
          <a:p>
            <a:pPr algn="just">
              <a:buFont typeface="Wingdings" panose="05000000000000000000" charset="0"/>
              <a:buChar char="v"/>
            </a:pPr>
            <a:r>
              <a:rPr lang="en-US" altLang="en-US" sz="2000" dirty="0"/>
              <a:t>Clustering techniques allow grouping of similar solar projects without prior labels.</a:t>
            </a:r>
            <a:endParaRPr lang="en-US" altLang="en-US" sz="2000" dirty="0"/>
          </a:p>
          <a:p>
            <a:pPr algn="just">
              <a:buFont typeface="Wingdings" panose="05000000000000000000" charset="0"/>
              <a:buChar char="v"/>
            </a:pPr>
            <a:r>
              <a:rPr lang="en-US" altLang="en-US" sz="2000" dirty="0"/>
              <a:t>This project applies machine learning to uncover meaningful segments in solar installations.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Objectives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8895" y="1762760"/>
            <a:ext cx="8915400" cy="4148455"/>
          </a:xfrm>
        </p:spPr>
        <p:txBody>
          <a:bodyPr>
            <a:normAutofit lnSpcReduction="20000"/>
          </a:bodyPr>
          <a:lstStyle/>
          <a:p>
            <a:pPr algn="just">
              <a:buFont typeface="Wingdings" panose="05000000000000000000" charset="0"/>
              <a:buChar char="v"/>
            </a:pPr>
            <a:r>
              <a:rPr lang="en-US" altLang="en-US" sz="2400" dirty="0"/>
              <a:t>To analyze solar project data and understand key patterns</a:t>
            </a:r>
            <a:r>
              <a:rPr lang="en-IN" altLang="en-US" sz="2400" dirty="0"/>
              <a:t>.</a:t>
            </a:r>
            <a:endParaRPr lang="en-US" altLang="en-US" sz="2400" dirty="0"/>
          </a:p>
          <a:p>
            <a:pPr algn="just">
              <a:buFont typeface="Wingdings" panose="05000000000000000000" charset="0"/>
              <a:buChar char="v"/>
            </a:pPr>
            <a:r>
              <a:rPr lang="en-US" altLang="en-US" sz="2400" dirty="0"/>
              <a:t>To apply clustering techniques to group similar solar installations</a:t>
            </a:r>
            <a:r>
              <a:rPr lang="en-IN" altLang="en-US" sz="2400" dirty="0"/>
              <a:t>.</a:t>
            </a:r>
            <a:endParaRPr lang="en-IN" altLang="en-US" sz="2400" dirty="0"/>
          </a:p>
          <a:p>
            <a:pPr algn="just">
              <a:buFont typeface="Wingdings" panose="05000000000000000000" charset="0"/>
              <a:buChar char="v"/>
            </a:pPr>
            <a:r>
              <a:rPr lang="en-US" altLang="en-US" sz="2400" dirty="0"/>
              <a:t>To segment projects based on system size, energy production, and performance</a:t>
            </a:r>
            <a:r>
              <a:rPr lang="en-IN" altLang="en-US" sz="2400" dirty="0"/>
              <a:t>.</a:t>
            </a:r>
            <a:endParaRPr lang="en-IN" altLang="en-US" sz="2400" dirty="0"/>
          </a:p>
          <a:p>
            <a:pPr algn="just">
              <a:buFont typeface="Wingdings" panose="05000000000000000000" charset="0"/>
              <a:buChar char="v"/>
            </a:pPr>
            <a:r>
              <a:rPr lang="en-US" altLang="en-US" sz="2400" dirty="0"/>
              <a:t>To evaluate clustering performance using appropriate metrics</a:t>
            </a:r>
            <a:r>
              <a:rPr lang="en-IN" altLang="en-US" sz="2400" dirty="0"/>
              <a:t>.</a:t>
            </a:r>
            <a:endParaRPr lang="en-IN" altLang="en-US" sz="2400" dirty="0"/>
          </a:p>
          <a:p>
            <a:pPr algn="just">
              <a:buFont typeface="Wingdings" panose="05000000000000000000" charset="0"/>
              <a:buChar char="v"/>
            </a:pPr>
            <a:r>
              <a:rPr lang="en-US" altLang="en-US" sz="2400" dirty="0"/>
              <a:t>To generate meaningful insights for better decision-making</a:t>
            </a:r>
            <a:r>
              <a:rPr lang="en-IN" altLang="en-US" sz="2400" dirty="0"/>
              <a:t>.</a:t>
            </a:r>
            <a:endParaRPr lang="en-IN" alt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Overview of Dataset</a:t>
            </a:r>
            <a:endParaRPr lang="en-IN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99622" y="1555423"/>
            <a:ext cx="11444140" cy="4930218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charset="0"/>
              <a:buChar char="v"/>
            </a:pPr>
            <a:r>
              <a:rPr lang="en-IN" sz="2000" dirty="0"/>
              <a:t>Data Source: </a:t>
            </a:r>
            <a:r>
              <a:rPr lang="en-US" altLang="en-US" sz="2000" dirty="0"/>
              <a:t>Statewide Solar Projects</a:t>
            </a:r>
            <a:endParaRPr lang="en-US" altLang="en-US" sz="2000" dirty="0"/>
          </a:p>
          <a:p>
            <a:r>
              <a:rPr lang="en-US" sz="2000" dirty="0"/>
              <a:t>Key features: </a:t>
            </a:r>
            <a:endParaRPr lang="en-US" sz="2000" dirty="0"/>
          </a:p>
          <a:p>
            <a:pPr>
              <a:buFont typeface="Wingdings" panose="05000000000000000000" charset="0"/>
              <a:buChar char="Ø"/>
            </a:pPr>
            <a:r>
              <a:rPr lang="en-IN" altLang="en-US" sz="2000" dirty="0"/>
              <a:t>  </a:t>
            </a:r>
            <a:r>
              <a:rPr lang="en-US" altLang="en-US" sz="2000" dirty="0"/>
              <a:t>Estimated PV System Size (kWdc, kWac)</a:t>
            </a:r>
            <a:endParaRPr lang="en-US" altLang="en-US" sz="2000" dirty="0"/>
          </a:p>
          <a:p>
            <a:pPr>
              <a:buFont typeface="Wingdings" panose="05000000000000000000" charset="0"/>
              <a:buChar char="Ø"/>
            </a:pPr>
            <a:r>
              <a:rPr lang="en-US" altLang="en-US" sz="2000" dirty="0"/>
              <a:t>Annual Energy Production (kWh)</a:t>
            </a:r>
            <a:endParaRPr lang="en-US" altLang="en-US" sz="2000" dirty="0"/>
          </a:p>
          <a:p>
            <a:pPr>
              <a:buFont typeface="Wingdings" panose="05000000000000000000" charset="0"/>
              <a:buChar char="Ø"/>
            </a:pPr>
            <a:r>
              <a:rPr lang="en-US" altLang="en-US" sz="2000" dirty="0"/>
              <a:t>Location details (City, Zip)</a:t>
            </a:r>
            <a:endParaRPr lang="en-US" altLang="en-US" sz="2000" dirty="0"/>
          </a:p>
          <a:p>
            <a:pPr>
              <a:buFont typeface="Wingdings" panose="05000000000000000000" charset="0"/>
              <a:buChar char="Ø"/>
            </a:pPr>
            <a:r>
              <a:rPr lang="en-US" altLang="en-US" sz="2000" dirty="0"/>
              <a:t>PV System Size (kWac)</a:t>
            </a:r>
            <a:endParaRPr lang="en-US" altLang="en-US" sz="2000" dirty="0"/>
          </a:p>
          <a:p>
            <a:pPr>
              <a:buFont typeface="Wingdings" panose="05000000000000000000" charset="0"/>
              <a:buChar char="v"/>
            </a:pPr>
            <a:r>
              <a:rPr lang="en-US" altLang="en-US" sz="2000" dirty="0"/>
              <a:t>Dataset Characteristics:</a:t>
            </a:r>
            <a:endParaRPr lang="en-US" altLang="en-US" sz="2000" dirty="0"/>
          </a:p>
          <a:p>
            <a:pPr>
              <a:buFont typeface="Wingdings" panose="05000000000000000000" charset="0"/>
              <a:buChar char="Ø"/>
            </a:pPr>
            <a:r>
              <a:rPr lang="en-US" altLang="en-US" sz="2000" dirty="0"/>
              <a:t>Contains a mix of small, medium, and large-scale solar projects</a:t>
            </a:r>
            <a:r>
              <a:rPr lang="en-IN" altLang="en-US" sz="2000" dirty="0"/>
              <a:t>.</a:t>
            </a:r>
            <a:endParaRPr lang="en-IN" altLang="en-US" sz="2000" dirty="0"/>
          </a:p>
          <a:p>
            <a:pPr>
              <a:buFont typeface="Wingdings" panose="05000000000000000000" charset="0"/>
              <a:buChar char="Ø"/>
            </a:pPr>
            <a:r>
              <a:rPr lang="en-US" altLang="en-US" sz="2000" dirty="0"/>
              <a:t>Includes both residential and commercial/industrial installations</a:t>
            </a:r>
            <a:endParaRPr lang="en-US" altLang="en-US" sz="2000" dirty="0"/>
          </a:p>
          <a:p>
            <a:pPr>
              <a:buFont typeface="Wingdings" panose="05000000000000000000" charset="0"/>
              <a:buChar char="Ø"/>
            </a:pPr>
            <a:r>
              <a:rPr lang="en-US" altLang="en-US" sz="2000" dirty="0"/>
              <a:t>Provides quantitative data suitable for clustering and pattern analysis</a:t>
            </a:r>
            <a:br>
              <a:rPr lang="en-US" sz="2400" dirty="0"/>
            </a:br>
            <a:r>
              <a:rPr lang="en-IN" altLang="en-US" sz="2400" dirty="0"/>
              <a:t> </a:t>
            </a:r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Exploratory Data Analysis (EDA)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7865" y="1635760"/>
            <a:ext cx="10807065" cy="5047615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charset="0"/>
              <a:buChar char="v"/>
            </a:pPr>
            <a:r>
              <a:rPr lang="en-IN" sz="2000" dirty="0"/>
              <a:t> Purpose of EDA:</a:t>
            </a:r>
            <a:endParaRPr lang="en-IN" sz="2000" dirty="0"/>
          </a:p>
          <a:p>
            <a:pPr algn="just">
              <a:buFont typeface="Wingdings" panose="05000000000000000000" charset="0"/>
              <a:buChar char="Ø"/>
            </a:pPr>
            <a:r>
              <a:rPr lang="en-US" altLang="en-US" sz="2000" dirty="0"/>
              <a:t>To understand the structure and distribution of the dataset</a:t>
            </a:r>
            <a:r>
              <a:rPr lang="en-IN" altLang="en-US" sz="2000" dirty="0"/>
              <a:t>.</a:t>
            </a:r>
            <a:endParaRPr lang="en-US" altLang="en-US" sz="2000" dirty="0"/>
          </a:p>
          <a:p>
            <a:pPr algn="just">
              <a:buFont typeface="Wingdings" panose="05000000000000000000" charset="0"/>
              <a:buChar char="Ø"/>
            </a:pPr>
            <a:r>
              <a:rPr lang="en-US" altLang="en-US" sz="2000" dirty="0"/>
              <a:t>To identify patterns, relationships, and potential issues such as outliers</a:t>
            </a:r>
            <a:r>
              <a:rPr lang="en-IN" altLang="en-US" sz="2000" dirty="0"/>
              <a:t>.</a:t>
            </a:r>
            <a:endParaRPr lang="en-US" altLang="en-US" sz="2000" dirty="0"/>
          </a:p>
          <a:p>
            <a:pPr algn="just">
              <a:buFont typeface="Wingdings" panose="05000000000000000000" charset="0"/>
              <a:buChar char="Ø"/>
            </a:pPr>
            <a:r>
              <a:rPr lang="en-US" altLang="en-US" sz="2000" dirty="0"/>
              <a:t>To gain insights that guide feature selection and modeling</a:t>
            </a:r>
            <a:r>
              <a:rPr lang="en-IN" altLang="en-US" sz="2000" dirty="0"/>
              <a:t>.</a:t>
            </a:r>
            <a:endParaRPr lang="en-US" altLang="en-US" sz="2000" dirty="0"/>
          </a:p>
          <a:p>
            <a:pPr algn="just">
              <a:buFont typeface="Wingdings" panose="05000000000000000000" charset="0"/>
              <a:buChar char="v"/>
            </a:pPr>
            <a:r>
              <a:rPr lang="en-IN" sz="2000" dirty="0"/>
              <a:t>Insights Gained</a:t>
            </a:r>
            <a:r>
              <a:rPr lang="en-US" sz="2000" dirty="0"/>
              <a:t>: </a:t>
            </a:r>
            <a:endParaRPr lang="en-US" sz="2000" dirty="0"/>
          </a:p>
          <a:p>
            <a:pPr algn="just">
              <a:buFont typeface="Wingdings" panose="05000000000000000000" charset="0"/>
              <a:buChar char="Ø"/>
            </a:pPr>
            <a:r>
              <a:rPr lang="en-US" altLang="en-US" sz="2000" dirty="0"/>
              <a:t>Most solar projects are small to medium-sized, with a few large-scale installations</a:t>
            </a:r>
            <a:r>
              <a:rPr lang="en-IN" altLang="en-US" sz="2000" dirty="0"/>
              <a:t>.</a:t>
            </a:r>
            <a:endParaRPr lang="en-US" altLang="en-US" sz="2000" dirty="0"/>
          </a:p>
          <a:p>
            <a:pPr algn="just">
              <a:buFont typeface="Wingdings" panose="05000000000000000000" charset="0"/>
              <a:buChar char="Ø"/>
            </a:pPr>
            <a:r>
              <a:rPr lang="en-US" altLang="en-US" sz="2000" dirty="0"/>
              <a:t>Strong correlation exists between system size and energy production</a:t>
            </a:r>
            <a:r>
              <a:rPr lang="en-IN" altLang="en-US" sz="2000" dirty="0"/>
              <a:t>.</a:t>
            </a:r>
            <a:endParaRPr lang="en-US" altLang="en-US" sz="2000" dirty="0"/>
          </a:p>
          <a:p>
            <a:pPr algn="just">
              <a:buFont typeface="Wingdings" panose="05000000000000000000" charset="0"/>
              <a:buChar char="Ø"/>
            </a:pPr>
            <a:r>
              <a:rPr lang="en-US" altLang="en-US" sz="2000" dirty="0"/>
              <a:t>Presence of outliers indicates large industrial projects</a:t>
            </a:r>
            <a:r>
              <a:rPr lang="en-IN" altLang="en-US" sz="2000" dirty="0"/>
              <a:t>.</a:t>
            </a:r>
            <a:endParaRPr lang="en-US" altLang="en-US" sz="2000" dirty="0"/>
          </a:p>
          <a:p>
            <a:pPr algn="just">
              <a:buFont typeface="Wingdings" panose="05000000000000000000" charset="0"/>
              <a:buChar char="Ø"/>
            </a:pPr>
            <a:r>
              <a:rPr lang="en-US" altLang="en-US" sz="2000" dirty="0"/>
              <a:t>Efficiency remains relatively consistent across different system sizes</a:t>
            </a:r>
            <a:r>
              <a:rPr lang="en-IN" altLang="en-US" sz="2000" dirty="0"/>
              <a:t>.</a:t>
            </a:r>
            <a:endParaRPr lang="en-IN" alt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</a:t>
            </a:r>
            <a:r>
              <a:rPr lang="en-IN" dirty="0" err="1"/>
              <a:t>Preprocessing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19373" y="1508289"/>
            <a:ext cx="9685239" cy="4402933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charset="0"/>
              <a:buChar char="Ø"/>
            </a:pPr>
            <a:r>
              <a:rPr lang="en-US" altLang="en-US" sz="2400" dirty="0"/>
              <a:t>Removed irrelevant columns to focus on important features</a:t>
            </a:r>
            <a:r>
              <a:rPr lang="en-IN" altLang="en-US" sz="2400" dirty="0"/>
              <a:t>.</a:t>
            </a:r>
            <a:endParaRPr lang="en-IN" altLang="en-US" sz="2400" dirty="0"/>
          </a:p>
          <a:p>
            <a:pPr algn="just">
              <a:buFont typeface="Wingdings" panose="05000000000000000000" charset="0"/>
              <a:buChar char="Ø"/>
            </a:pPr>
            <a:r>
              <a:rPr lang="en-US" altLang="en-US" sz="2400" dirty="0"/>
              <a:t>Handled missing values to ensure data completeness</a:t>
            </a:r>
            <a:r>
              <a:rPr lang="en-IN" altLang="en-US" sz="2400" dirty="0"/>
              <a:t>.</a:t>
            </a:r>
            <a:endParaRPr lang="en-IN" altLang="en-US" sz="2400" dirty="0"/>
          </a:p>
          <a:p>
            <a:pPr algn="just">
              <a:buFont typeface="Wingdings" panose="05000000000000000000" charset="0"/>
              <a:buChar char="Ø"/>
            </a:pPr>
            <a:r>
              <a:rPr lang="en-US" altLang="en-US" sz="2400" dirty="0"/>
              <a:t>Removed duplicate records to maintain data quality</a:t>
            </a:r>
            <a:r>
              <a:rPr lang="en-IN" altLang="en-US" sz="2400" dirty="0"/>
              <a:t>.</a:t>
            </a:r>
            <a:endParaRPr lang="en-IN" altLang="en-US" sz="2400" dirty="0"/>
          </a:p>
          <a:p>
            <a:pPr algn="just">
              <a:buFont typeface="Wingdings" panose="05000000000000000000" charset="0"/>
              <a:buChar char="Ø"/>
            </a:pPr>
            <a:r>
              <a:rPr lang="en-US" altLang="en-US" sz="2400" dirty="0"/>
              <a:t>Applied feature engineering (Efficiency, AC/DC Ratio) to enhance insights</a:t>
            </a:r>
            <a:r>
              <a:rPr lang="en-IN" altLang="en-US" sz="2400" dirty="0"/>
              <a:t>.</a:t>
            </a:r>
            <a:endParaRPr lang="en-IN" altLang="en-US" sz="2400" dirty="0"/>
          </a:p>
          <a:p>
            <a:pPr algn="just">
              <a:buFont typeface="Wingdings" panose="05000000000000000000" charset="0"/>
              <a:buChar char="Ø"/>
            </a:pPr>
            <a:r>
              <a:rPr lang="en-US" altLang="en-US" sz="2400" dirty="0"/>
              <a:t>Standardized features using scaling to ensure equal contribution</a:t>
            </a:r>
            <a:r>
              <a:rPr lang="en-IN" altLang="en-US" sz="2400" dirty="0"/>
              <a:t>.</a:t>
            </a:r>
            <a:endParaRPr lang="en-IN" altLang="en-US" sz="2400" dirty="0"/>
          </a:p>
          <a:p>
            <a:pPr algn="just">
              <a:buFont typeface="Wingdings" panose="05000000000000000000" charset="0"/>
              <a:buChar char="Ø"/>
            </a:pPr>
            <a:r>
              <a:rPr lang="en-US" altLang="en-US" sz="2400" dirty="0"/>
              <a:t>Applied PCA to reduce dimensionality and improve computational efficiency</a:t>
            </a:r>
            <a:r>
              <a:rPr lang="en-IN" altLang="en-US" sz="2400" dirty="0"/>
              <a:t>.</a:t>
            </a:r>
            <a:endParaRPr lang="en-IN" alt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lustering workflow"/>
          <p:cNvPicPr>
            <a:picLocks noChangeAspect="1"/>
          </p:cNvPicPr>
          <p:nvPr/>
        </p:nvPicPr>
        <p:blipFill>
          <a:blip r:embed="rId1"/>
          <a:srcRect t="8657" r="-184" b="13138"/>
          <a:stretch>
            <a:fillRect/>
          </a:stretch>
        </p:blipFill>
        <p:spPr>
          <a:xfrm>
            <a:off x="2961640" y="2644775"/>
            <a:ext cx="7966075" cy="374586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Machine Learning Workflow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Project Workflow</a:t>
            </a:r>
            <a:endParaRPr lang="en-IN" sz="24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dirty="0">
                <a:sym typeface="+mn-ea"/>
              </a:rPr>
              <a:t>Algorithms Used</a:t>
            </a:r>
            <a:endParaRPr lang="en-IN" altLang="en-US"/>
          </a:p>
        </p:txBody>
      </p:sp>
      <p:graphicFrame>
        <p:nvGraphicFramePr>
          <p:cNvPr id="4" name="Content Placeholder 3"/>
          <p:cNvGraphicFramePr/>
          <p:nvPr>
            <p:ph idx="1"/>
          </p:nvPr>
        </p:nvGraphicFramePr>
        <p:xfrm>
          <a:off x="1554480" y="1617345"/>
          <a:ext cx="9949815" cy="42938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Comparison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3843" y="1905000"/>
            <a:ext cx="10160769" cy="4328890"/>
          </a:xfrm>
        </p:spPr>
        <p:txBody>
          <a:bodyPr/>
          <a:lstStyle/>
          <a:p>
            <a:pPr>
              <a:buFont typeface="Wingdings" panose="05000000000000000000" charset="0"/>
              <a:buChar char="v"/>
            </a:pPr>
            <a:r>
              <a:rPr lang="en-US" altLang="en-US" sz="2000" dirty="0"/>
              <a:t>Evaluation Metric</a:t>
            </a:r>
            <a:endParaRPr lang="en-US" altLang="en-US" sz="2000" dirty="0"/>
          </a:p>
          <a:p>
            <a:pPr>
              <a:buFont typeface="Wingdings" panose="05000000000000000000" charset="0"/>
              <a:buChar char="Ø"/>
            </a:pPr>
            <a:r>
              <a:rPr lang="en-US" altLang="en-US" sz="2000" dirty="0"/>
              <a:t>Silhouette Score used to measure cluster quality</a:t>
            </a:r>
            <a:r>
              <a:rPr lang="en-IN" altLang="en-US" sz="2000" dirty="0"/>
              <a:t>.</a:t>
            </a:r>
            <a:endParaRPr lang="en-IN" altLang="en-US" sz="2000" dirty="0"/>
          </a:p>
          <a:p>
            <a:pPr>
              <a:buFont typeface="Wingdings" panose="05000000000000000000" charset="0"/>
              <a:buChar char="Ø"/>
            </a:pPr>
            <a:r>
              <a:rPr lang="en-US" altLang="en-US" sz="2000" dirty="0"/>
              <a:t>Higher score → Better cluster separation</a:t>
            </a:r>
            <a:r>
              <a:rPr lang="en-IN" altLang="en-US" sz="2000" dirty="0"/>
              <a:t>.</a:t>
            </a:r>
            <a:endParaRPr lang="en-IN" altLang="en-US" sz="2000" dirty="0"/>
          </a:p>
          <a:p>
            <a:pPr marL="0" indent="0">
              <a:buFont typeface="Wingdings" panose="05000000000000000000" charset="0"/>
              <a:buNone/>
            </a:pPr>
            <a:endParaRPr lang="en-US" altLang="en-US" dirty="0"/>
          </a:p>
          <a:p>
            <a:endParaRPr lang="en-IN" dirty="0"/>
          </a:p>
        </p:txBody>
      </p:sp>
      <p:graphicFrame>
        <p:nvGraphicFramePr>
          <p:cNvPr id="6" name="Table 5"/>
          <p:cNvGraphicFramePr/>
          <p:nvPr/>
        </p:nvGraphicFramePr>
        <p:xfrm>
          <a:off x="1703705" y="3724910"/>
          <a:ext cx="8534400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7200"/>
                <a:gridCol w="4267200"/>
              </a:tblGrid>
              <a:tr h="5549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/>
                        <a:t>Model</a:t>
                      </a:r>
                      <a:endParaRPr lang="en-I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Silhouette Score</a:t>
                      </a:r>
                      <a:endParaRPr lang="en-US" altLang="en-US"/>
                    </a:p>
                  </a:txBody>
                  <a:tcPr/>
                </a:tc>
              </a:tr>
              <a:tr h="5549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MiniBatchKMeans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0.463</a:t>
                      </a:r>
                      <a:endParaRPr lang="en-US" altLang="en-US"/>
                    </a:p>
                  </a:txBody>
                  <a:tcPr/>
                </a:tc>
              </a:tr>
              <a:tr h="5549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Hierarchical (Sample)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0.473</a:t>
                      </a:r>
                      <a:endParaRPr lang="en-US" altLang="en-US"/>
                    </a:p>
                  </a:txBody>
                  <a:tcPr/>
                </a:tc>
              </a:tr>
              <a:tr h="5549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GMM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0.305</a:t>
                      </a:r>
                      <a:endParaRPr lang="en-US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Selection(final)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5996" y="1498862"/>
            <a:ext cx="9958616" cy="4735028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charset="0"/>
              <a:buChar char="v"/>
            </a:pPr>
            <a:r>
              <a:rPr lang="en-US" altLang="en-US" sz="2000" dirty="0"/>
              <a:t>Selected Model: MiniBatchKMeans</a:t>
            </a:r>
            <a:endParaRPr lang="en-US" altLang="en-US" sz="2000" dirty="0"/>
          </a:p>
          <a:p>
            <a:pPr algn="just">
              <a:buFont typeface="Wingdings" panose="05000000000000000000" charset="0"/>
              <a:buChar char="Ø"/>
            </a:pPr>
            <a:r>
              <a:rPr lang="en-US" altLang="en-US" sz="2000" dirty="0"/>
              <a:t>Chosen due to its high efficiency and scalability for large datasets</a:t>
            </a:r>
            <a:r>
              <a:rPr lang="en-IN" altLang="en-US" sz="2000" dirty="0"/>
              <a:t>.</a:t>
            </a:r>
            <a:endParaRPr lang="en-US" altLang="en-US" sz="2000" dirty="0"/>
          </a:p>
          <a:p>
            <a:pPr algn="just">
              <a:buFont typeface="Wingdings" panose="05000000000000000000" charset="0"/>
              <a:buChar char="Ø"/>
            </a:pPr>
            <a:r>
              <a:rPr lang="en-US" altLang="en-US" sz="2000" dirty="0"/>
              <a:t>Achieved a strong silhouette score (~0.46) indicating good cluster separation</a:t>
            </a:r>
            <a:r>
              <a:rPr lang="en-IN" altLang="en-US" sz="2000" dirty="0"/>
              <a:t>.</a:t>
            </a:r>
            <a:endParaRPr lang="en-US" altLang="en-US" sz="2000" dirty="0"/>
          </a:p>
          <a:p>
            <a:pPr algn="just">
              <a:buFont typeface="Wingdings" panose="05000000000000000000" charset="0"/>
              <a:buChar char="Ø"/>
            </a:pPr>
            <a:r>
              <a:rPr lang="en-US" altLang="en-US" sz="2000" dirty="0"/>
              <a:t>Performs well on full dataset without computational issues</a:t>
            </a:r>
            <a:r>
              <a:rPr lang="en-IN" altLang="en-US" sz="2000" dirty="0"/>
              <a:t>.</a:t>
            </a:r>
            <a:endParaRPr lang="en-IN" altLang="en-US" sz="2000" dirty="0"/>
          </a:p>
          <a:p>
            <a:pPr algn="just">
              <a:buFont typeface="Wingdings" panose="05000000000000000000" charset="0"/>
              <a:buChar char="Ø"/>
            </a:pPr>
            <a:endParaRPr lang="en-IN" altLang="en-US" sz="2000" dirty="0"/>
          </a:p>
          <a:p>
            <a:pPr algn="just">
              <a:buFont typeface="Wingdings" panose="05000000000000000000" charset="0"/>
              <a:buChar char="v"/>
            </a:pPr>
            <a:r>
              <a:rPr lang="en-US" altLang="en-US" sz="2000" dirty="0"/>
              <a:t>Why Not Others?</a:t>
            </a:r>
            <a:endParaRPr lang="en-US" altLang="en-US" sz="2000" dirty="0"/>
          </a:p>
          <a:p>
            <a:pPr algn="just">
              <a:buFont typeface="Wingdings" panose="05000000000000000000" charset="0"/>
              <a:buChar char="Ø"/>
            </a:pPr>
            <a:r>
              <a:rPr lang="en-US" altLang="en-US" sz="2000" dirty="0"/>
              <a:t>Hierarchical Clustering: Higher score but limited to sample data due to high computational cost</a:t>
            </a:r>
            <a:r>
              <a:rPr lang="en-IN" altLang="en-US" sz="2000" dirty="0"/>
              <a:t>.</a:t>
            </a:r>
            <a:endParaRPr lang="en-US" altLang="en-US" sz="2000" dirty="0"/>
          </a:p>
          <a:p>
            <a:pPr algn="just">
              <a:buFont typeface="Wingdings" panose="05000000000000000000" charset="0"/>
              <a:buChar char="Ø"/>
            </a:pPr>
            <a:r>
              <a:rPr lang="en-US" altLang="en-US" sz="2000" dirty="0"/>
              <a:t>GMM: Lower silhouette score, indicating less distinct clusters</a:t>
            </a:r>
            <a:r>
              <a:rPr lang="en-IN" altLang="en-US" sz="2000" dirty="0"/>
              <a:t>.</a:t>
            </a:r>
            <a:endParaRPr lang="en-IN" alt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Cluster Results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8895" y="1587500"/>
            <a:ext cx="8915400" cy="4735195"/>
          </a:xfrm>
        </p:spPr>
        <p:txBody>
          <a:bodyPr>
            <a:noAutofit/>
          </a:bodyPr>
          <a:p>
            <a:pPr>
              <a:buFont typeface="Wingdings" panose="05000000000000000000" charset="0"/>
              <a:buChar char="v"/>
            </a:pPr>
            <a:r>
              <a:rPr lang="en-US" altLang="en-US" sz="1600"/>
              <a:t>Identified Clusters</a:t>
            </a:r>
            <a:endParaRPr lang="en-US" altLang="en-US" sz="1600"/>
          </a:p>
          <a:p>
            <a:pPr>
              <a:buFont typeface="Wingdings" panose="05000000000000000000" charset="0"/>
              <a:buChar char="Ø"/>
            </a:pPr>
            <a:r>
              <a:rPr lang="en-US" altLang="en-US" sz="1600"/>
              <a:t>Cluster 0: Small-scale (Residential systems)</a:t>
            </a:r>
            <a:endParaRPr lang="en-US" altLang="en-US" sz="1600"/>
          </a:p>
          <a:p>
            <a:pPr>
              <a:buFont typeface="Wingdings" panose="05000000000000000000" charset="0"/>
              <a:buChar char="Ø"/>
            </a:pPr>
            <a:r>
              <a:rPr lang="en-US" altLang="en-US" sz="1600"/>
              <a:t>Cluster 1: Medium-scale (Commercial systems)</a:t>
            </a:r>
            <a:endParaRPr lang="en-US" altLang="en-US" sz="1600"/>
          </a:p>
          <a:p>
            <a:pPr>
              <a:buFont typeface="Wingdings" panose="05000000000000000000" charset="0"/>
              <a:buChar char="Ø"/>
            </a:pPr>
            <a:r>
              <a:rPr lang="en-US" altLang="en-US" sz="1600"/>
              <a:t>Cluster 2: Large-scale (Industrial systems)</a:t>
            </a:r>
            <a:endParaRPr lang="en-US" altLang="en-US" sz="1600"/>
          </a:p>
          <a:p>
            <a:pPr>
              <a:buFont typeface="Wingdings" panose="05000000000000000000" charset="0"/>
              <a:buChar char="Ø"/>
            </a:pPr>
            <a:endParaRPr lang="en-US" altLang="en-US" sz="1600"/>
          </a:p>
          <a:p>
            <a:pPr>
              <a:buFont typeface="Wingdings" panose="05000000000000000000" charset="0"/>
              <a:buChar char="v"/>
            </a:pPr>
            <a:r>
              <a:rPr lang="en-US" altLang="en-US" sz="1600"/>
              <a:t>Key Characteristics</a:t>
            </a:r>
            <a:endParaRPr lang="en-US" altLang="en-US" sz="1600"/>
          </a:p>
          <a:p>
            <a:pPr>
              <a:buFont typeface="Wingdings" panose="05000000000000000000" charset="0"/>
              <a:buChar char="Ø"/>
            </a:pPr>
            <a:r>
              <a:rPr lang="en-US" altLang="en-US" sz="1600"/>
              <a:t>System size and energy production increase across clusters</a:t>
            </a:r>
            <a:r>
              <a:rPr lang="en-IN" altLang="en-US" sz="1600"/>
              <a:t>.</a:t>
            </a:r>
            <a:endParaRPr lang="en-US" altLang="en-US" sz="1600"/>
          </a:p>
          <a:p>
            <a:pPr>
              <a:buFont typeface="Wingdings" panose="05000000000000000000" charset="0"/>
              <a:buChar char="Ø"/>
            </a:pPr>
            <a:r>
              <a:rPr lang="en-US" altLang="en-US" sz="1600"/>
              <a:t>Large-scale systems generate significantly higher energy output</a:t>
            </a:r>
            <a:r>
              <a:rPr lang="en-IN" altLang="en-US" sz="1600"/>
              <a:t>.</a:t>
            </a:r>
            <a:endParaRPr lang="en-US" altLang="en-US" sz="1600"/>
          </a:p>
          <a:p>
            <a:pPr>
              <a:buFont typeface="Wingdings" panose="05000000000000000000" charset="0"/>
              <a:buChar char="Ø"/>
            </a:pPr>
            <a:r>
              <a:rPr lang="en-US" altLang="en-US" sz="1600"/>
              <a:t>Clear separation between small and large installations</a:t>
            </a:r>
            <a:r>
              <a:rPr lang="en-IN" altLang="en-US" sz="1600"/>
              <a:t>.</a:t>
            </a:r>
            <a:endParaRPr lang="en-IN" altLang="en-US" sz="1600"/>
          </a:p>
          <a:p>
            <a:pPr>
              <a:buFont typeface="Wingdings" panose="05000000000000000000" charset="0"/>
              <a:buChar char="Ø"/>
            </a:pPr>
            <a:endParaRPr lang="en-IN" altLang="en-US" sz="1600"/>
          </a:p>
          <a:p>
            <a:pPr>
              <a:buFont typeface="Wingdings" panose="05000000000000000000" charset="0"/>
              <a:buChar char="v"/>
            </a:pPr>
            <a:r>
              <a:rPr lang="en-US" altLang="en-US" sz="1600"/>
              <a:t>Visualization</a:t>
            </a:r>
            <a:endParaRPr lang="en-US" altLang="en-US" sz="1600"/>
          </a:p>
          <a:p>
            <a:pPr>
              <a:buFont typeface="Wingdings" panose="05000000000000000000" charset="0"/>
              <a:buChar char="Ø"/>
            </a:pPr>
            <a:r>
              <a:rPr lang="en-US" altLang="en-US" sz="1600"/>
              <a:t>Clusters visualized using PCA (2D projection)</a:t>
            </a:r>
            <a:endParaRPr lang="en-US" altLang="en-US" sz="1600"/>
          </a:p>
          <a:p>
            <a:pPr>
              <a:buFont typeface="Wingdings" panose="05000000000000000000" charset="0"/>
              <a:buChar char="Ø"/>
            </a:pPr>
            <a:r>
              <a:rPr lang="en-US" altLang="en-US" sz="1600"/>
              <a:t>Distinct grouping observed in scatter plot</a:t>
            </a:r>
            <a:endParaRPr lang="en-US" altLang="en-US" sz="1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4532" y="1470581"/>
            <a:ext cx="9770080" cy="4440641"/>
          </a:xfrm>
        </p:spPr>
        <p:txBody>
          <a:bodyPr/>
          <a:lstStyle/>
          <a:p>
            <a:pPr algn="just"/>
            <a:r>
              <a:rPr lang="en-US" altLang="en-US" sz="2000" dirty="0"/>
              <a:t>Successfully applied clustering techniques to segment solar projects</a:t>
            </a:r>
            <a:r>
              <a:rPr lang="en-IN" altLang="en-US" sz="2000" dirty="0"/>
              <a:t>.</a:t>
            </a:r>
            <a:endParaRPr lang="en-US" altLang="en-US" sz="2000" dirty="0"/>
          </a:p>
          <a:p>
            <a:pPr algn="just"/>
            <a:r>
              <a:rPr lang="en-US" altLang="en-US" sz="2000" dirty="0"/>
              <a:t>Identified three distinct groups: residential, commercial, and industrial systems</a:t>
            </a:r>
            <a:r>
              <a:rPr lang="en-IN" altLang="en-US" sz="2000" dirty="0"/>
              <a:t>.</a:t>
            </a:r>
            <a:endParaRPr lang="en-IN" altLang="en-US" sz="2000" dirty="0"/>
          </a:p>
          <a:p>
            <a:pPr algn="just"/>
            <a:r>
              <a:rPr lang="en-US" altLang="en-US" sz="2000" dirty="0"/>
              <a:t>MiniBatchKMeans provided the best balance of performance and scalability</a:t>
            </a:r>
            <a:r>
              <a:rPr lang="en-IN" altLang="en-US" sz="2000" dirty="0"/>
              <a:t>.</a:t>
            </a:r>
            <a:endParaRPr lang="en-US" altLang="en-US" sz="2000" dirty="0"/>
          </a:p>
          <a:p>
            <a:pPr algn="just"/>
            <a:r>
              <a:rPr lang="en-US" altLang="en-US" sz="2000" dirty="0"/>
              <a:t>Analysis revealed that system size strongly influences energy production, while efficiency remains consistent</a:t>
            </a:r>
            <a:r>
              <a:rPr lang="en-IN" altLang="en-US" sz="2000" dirty="0"/>
              <a:t>.</a:t>
            </a:r>
            <a:endParaRPr lang="en-US" altLang="en-US" sz="2000" dirty="0"/>
          </a:p>
          <a:p>
            <a:pPr algn="just"/>
            <a:r>
              <a:rPr lang="en-US" altLang="en-US" sz="2000" dirty="0"/>
              <a:t>The project demonstrates how clustering can generate meaningful insights from real-world data</a:t>
            </a:r>
            <a:r>
              <a:rPr lang="en-IN" altLang="en-US" sz="2000" dirty="0"/>
              <a:t>.</a:t>
            </a:r>
            <a:endParaRPr lang="en-IN" alt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IN" sz="4000" dirty="0"/>
          </a:p>
          <a:p>
            <a:pPr marL="0" indent="0" algn="ctr">
              <a:buNone/>
            </a:pPr>
            <a:r>
              <a:rPr lang="en-IN" sz="4800" dirty="0"/>
              <a:t>Thank You!</a:t>
            </a:r>
            <a:endParaRPr lang="en-IN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0</TotalTime>
  <Words>4226</Words>
  <Application>WPS Presentation</Application>
  <PresentationFormat>Widescreen</PresentationFormat>
  <Paragraphs>146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5" baseType="lpstr">
      <vt:lpstr>Arial</vt:lpstr>
      <vt:lpstr>SimSun</vt:lpstr>
      <vt:lpstr>Wingdings</vt:lpstr>
      <vt:lpstr>Wingdings 3</vt:lpstr>
      <vt:lpstr>Arial</vt:lpstr>
      <vt:lpstr>Wingdings</vt:lpstr>
      <vt:lpstr>Century Gothic</vt:lpstr>
      <vt:lpstr>Microsoft YaHei</vt:lpstr>
      <vt:lpstr>Arial Unicode MS</vt:lpstr>
      <vt:lpstr>Calibri</vt:lpstr>
      <vt:lpstr>Wisp</vt:lpstr>
      <vt:lpstr>Spinnaker Analytics    Topic: Clustering Solar Energy Production Zones </vt:lpstr>
      <vt:lpstr>Agenda</vt:lpstr>
      <vt:lpstr>Introduction</vt:lpstr>
      <vt:lpstr>Project Objectives</vt:lpstr>
      <vt:lpstr>Overview of Dataset</vt:lpstr>
      <vt:lpstr>Exploratory Data Analysis (EDA)</vt:lpstr>
      <vt:lpstr>Data Preprocessing</vt:lpstr>
      <vt:lpstr>Machine Learning Workflow</vt:lpstr>
      <vt:lpstr>PowerPoint 演示文稿</vt:lpstr>
      <vt:lpstr>Model Comparison</vt:lpstr>
      <vt:lpstr>Model Selection(final)</vt:lpstr>
      <vt:lpstr>Cluster Results</vt:lpstr>
      <vt:lpstr>Conclusion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Hotel Reservation Cancellations Using Machine Learning</dc:title>
  <dc:creator>Aman Shaikh</dc:creator>
  <cp:lastModifiedBy>Aman Shaikh</cp:lastModifiedBy>
  <cp:revision>21</cp:revision>
  <dcterms:created xsi:type="dcterms:W3CDTF">2026-01-22T05:43:00Z</dcterms:created>
  <dcterms:modified xsi:type="dcterms:W3CDTF">2026-03-27T15:53:31Z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2437DAD0DD4E44DF9A0FE66B4244E675_13</vt:lpwstr>
  </property>
  <property fmtid="{D5CDD505-2E9C-101B-9397-08002B2CF9AE}" pid="3" name="KSOProductBuildVer">
    <vt:lpwstr>1033-12.1.0.25242</vt:lpwstr>
  </property>
</Properties>
</file>